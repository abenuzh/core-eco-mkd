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FE9BC"/>
                </a:solidFill>
                <a:latin typeface="Georgia"/>
              </a:rPr>
              <a:t>CORE</a:t>
            </a:r>
            <a:r>
              <a:rPr sz="2000" b="1">
                <a:solidFill>
                  <a:srgbClr val="0FAD67"/>
                </a:solidFill>
                <a:latin typeface="Georgia"/>
              </a:rPr>
              <a:t>.ECO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475488"/>
            <a:ext cx="658368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FE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00" b="1">
                <a:solidFill>
                  <a:srgbClr val="8FE9BC"/>
                </a:solidFill>
                <a:latin typeface="Calibri"/>
              </a:rPr>
              <a:t>МКД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FE9BC"/>
                </a:solidFill>
                <a:latin typeface="Calibri"/>
              </a:rPr>
              <a:t>ЧТО УМЕЕТ СЕРВИС — КОРОТКО О ГЛАВНОМ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Онлайн-оценка «зелёных» многоквартирных домов по ГОСТ 35329—2026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4D9BD"/>
                </a:solidFill>
                <a:latin typeface="Calibri"/>
              </a:rPr>
              <a:t>Как дом проходит путь от адреса до понятного рейтинга — за один визит на сайт.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7818120" y="1051560"/>
            <a:ext cx="3657600" cy="5212080"/>
            <a:chOff x="7818120" y="1051560"/>
            <a:chExt cx="3657600" cy="5212080"/>
          </a:xfrm>
        </p:grpSpPr>
        <p:sp>
          <p:nvSpPr>
            <p:cNvPr id="8" name="Rounded Rectangle 7"/>
            <p:cNvSpPr/>
            <p:nvPr/>
          </p:nvSpPr>
          <p:spPr>
            <a:xfrm>
              <a:off x="7818120" y="1051560"/>
              <a:ext cx="3657600" cy="5212080"/>
            </a:xfrm>
            <a:prstGeom prst="roundRect">
              <a:avLst>
                <a:gd name="adj" fmla="val 3500"/>
              </a:avLst>
            </a:prstGeom>
            <a:solidFill>
              <a:srgbClr val="1635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001000" y="1307592"/>
              <a:ext cx="777240" cy="777240"/>
            </a:xfrm>
            <a:prstGeom prst="ellipse">
              <a:avLst/>
            </a:prstGeom>
            <a:solidFill>
              <a:srgbClr val="E8C8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818120" y="5257800"/>
              <a:ext cx="3657600" cy="1005840"/>
            </a:xfrm>
            <a:prstGeom prst="rect">
              <a:avLst/>
            </a:prstGeom>
            <a:solidFill>
              <a:srgbClr val="1E40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732520" y="2103120"/>
              <a:ext cx="1828800" cy="3154679"/>
            </a:xfrm>
            <a:prstGeom prst="rect">
              <a:avLst/>
            </a:prstGeom>
            <a:solidFill>
              <a:srgbClr val="E4D9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878824" y="21977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911010" y="238749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9079992" y="236921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427464" y="21977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976104" y="21977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0008290" y="238749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10177272" y="236921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878824" y="272354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427464" y="272354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9459650" y="291327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9628632" y="289499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976104" y="272354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878824" y="324932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911010" y="343905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079992" y="342077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427464" y="324932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976104" y="324932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10008290" y="343905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0177272" y="342077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878824" y="377510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427464" y="377510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9459650" y="396483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9628632" y="394655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76104" y="377510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878824" y="430088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911010" y="449061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9079992" y="447233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427464" y="430088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976104" y="430088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0008290" y="449061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0177272" y="447233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878824" y="48266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427464" y="48266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9459650" y="5016398"/>
              <a:ext cx="140817" cy="146304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9628632" y="4998110"/>
              <a:ext cx="140817" cy="164592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76104" y="4826660"/>
              <a:ext cx="402336" cy="262890"/>
            </a:xfrm>
            <a:prstGeom prst="rect">
              <a:avLst/>
            </a:prstGeom>
            <a:solidFill>
              <a:srgbClr val="122A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8476488" y="218198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8476488" y="270776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8476488" y="323354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8476488" y="375932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476488" y="428510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8476488" y="481088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0579608" y="218198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0579608" y="270776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0579608" y="323354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0579608" y="375932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0579608" y="4285106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0579608" y="4810887"/>
              <a:ext cx="237744" cy="36804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595360" y="1847087"/>
              <a:ext cx="2103120" cy="274320"/>
            </a:xfrm>
            <a:prstGeom prst="rect">
              <a:avLst/>
            </a:prstGeom>
            <a:solidFill>
              <a:srgbClr val="0B1A1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8869680" y="1554479"/>
              <a:ext cx="384048" cy="384048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9326880" y="1554479"/>
              <a:ext cx="384048" cy="384048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9784080" y="1554479"/>
              <a:ext cx="384048" cy="384048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0241280" y="1554479"/>
              <a:ext cx="384048" cy="384048"/>
            </a:xfrm>
            <a:prstGeom prst="ellipse">
              <a:avLst/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8308238" y="5303520"/>
              <a:ext cx="117043" cy="502920"/>
            </a:xfrm>
            <a:prstGeom prst="rect">
              <a:avLst/>
            </a:prstGeom>
            <a:solidFill>
              <a:srgbClr val="A870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1000" y="4892040"/>
              <a:ext cx="731520" cy="58521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0868558" y="5303520"/>
              <a:ext cx="117043" cy="502920"/>
            </a:xfrm>
            <a:prstGeom prst="rect">
              <a:avLst/>
            </a:prstGeom>
            <a:solidFill>
              <a:srgbClr val="A870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0561320" y="4892040"/>
              <a:ext cx="731520" cy="585216"/>
            </a:xfrm>
            <a:prstGeom prst="ellipse">
              <a:avLst/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823960" y="5577840"/>
              <a:ext cx="175564" cy="175564"/>
            </a:xfrm>
            <a:prstGeom prst="ellipse">
              <a:avLst/>
            </a:prstGeom>
            <a:solidFill>
              <a:srgbClr val="E4D9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8845027" y="5739359"/>
              <a:ext cx="133429" cy="340156"/>
            </a:xfrm>
            <a:prstGeom prst="roundRect">
              <a:avLst>
                <a:gd name="adj" fmla="val 35000"/>
              </a:avLst>
            </a:prstGeom>
            <a:solidFill>
              <a:srgbClr val="2FD1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8321040" y="5376671"/>
              <a:ext cx="239938" cy="239938"/>
            </a:xfrm>
            <a:prstGeom prst="ellipse">
              <a:avLst/>
            </a:prstGeom>
            <a:solidFill>
              <a:srgbClr val="E8C8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8349832" y="5597415"/>
              <a:ext cx="182353" cy="464880"/>
            </a:xfrm>
            <a:prstGeom prst="roundRect">
              <a:avLst>
                <a:gd name="adj" fmla="val 35000"/>
              </a:avLst>
            </a:prstGeom>
            <a:solidFill>
              <a:srgbClr val="0FAD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0698480" y="5349240"/>
              <a:ext cx="248716" cy="248716"/>
            </a:xfrm>
            <a:prstGeom prst="ellipse">
              <a:avLst/>
            </a:prstGeom>
            <a:solidFill>
              <a:srgbClr val="E4D9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0728326" y="5578059"/>
              <a:ext cx="189024" cy="481888"/>
            </a:xfrm>
            <a:prstGeom prst="roundRect">
              <a:avLst>
                <a:gd name="adj" fmla="val 35000"/>
              </a:avLst>
            </a:prstGeom>
            <a:solidFill>
              <a:srgbClr val="C999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1064240" y="5394960"/>
              <a:ext cx="234086" cy="234086"/>
            </a:xfrm>
            <a:prstGeom prst="ellipse">
              <a:avLst/>
            </a:prstGeom>
            <a:solidFill>
              <a:srgbClr val="E8C8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11092330" y="5610319"/>
              <a:ext cx="177905" cy="453542"/>
            </a:xfrm>
            <a:prstGeom prst="roundRect">
              <a:avLst>
                <a:gd name="adj" fmla="val 35000"/>
              </a:avLst>
            </a:prstGeom>
            <a:solidFill>
              <a:srgbClr val="8FE9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CORE.ECO · МКД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5" dur="800" fill="hold"/>
                            <p:tgtEl>
                              <p:spTgt spid="7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AD67"/>
                </a:solidFill>
                <a:latin typeface="Calibri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61510"/>
                </a:solidFill>
                <a:latin typeface="Georgia"/>
              </a:rPr>
              <a:t>Единственный в своём роде калькулятор «зелёного» рейтинга дома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5786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58 критериев, 10 категорий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953512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Вся методика ГОСТ 35329-2026 — в одном инструменте, без десятков страниц документа.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675887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Живой расчёт рейтинга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4050791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Бронза / Серебро / Золото считаются автоматически, по официальной методике Приложения А.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77316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Понятная последовательность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5148072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Сайт ведёт по тому же порядку, что описан в разделе 7 стандарта: стадия → категории → результат.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656"/>
                </a:solidFill>
                <a:latin typeface="Calibri"/>
              </a:rPr>
              <a:t>CORE.ECO · МКД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656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FE9BC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Один сквозной сценарий из четырёх шагов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468880" cy="3429000"/>
          </a:xfrm>
          <a:prstGeom prst="roundRect">
            <a:avLst>
              <a:gd name="adj" fmla="val 5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587752"/>
            <a:ext cx="502920" cy="50292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0D1F1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Стадия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Проект, прошедший экспертизу, или дом, введённый в эксплуатацию.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31720"/>
            <a:ext cx="2468880" cy="3429000"/>
          </a:xfrm>
          <a:prstGeom prst="roundRect">
            <a:avLst>
              <a:gd name="adj" fmla="val 5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39" y="2587752"/>
            <a:ext cx="502920" cy="50292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0D1F1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24612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 категорий и файлы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93192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Требование, способ подтверждения и загрузка документа по каждому критерию.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2468880" cy="3429000"/>
          </a:xfrm>
          <a:prstGeom prst="roundRect">
            <a:avLst>
              <a:gd name="adj" fmla="val 5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587752"/>
            <a:ext cx="502920" cy="50292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0D1F1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Гео-проверка по адресу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3192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Часть критериев расположения проверяется автоматически по картам OpenStreetMap.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331720"/>
            <a:ext cx="2468880" cy="3429000"/>
          </a:xfrm>
          <a:prstGeom prst="roundRect">
            <a:avLst>
              <a:gd name="adj" fmla="val 5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0" y="2587752"/>
            <a:ext cx="502920" cy="50292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0D1F1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Отчёт и рейтинг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3192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Итоговый процент, разбивка по категориям, чего не хватает до следующей ступени.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CORE.ECO · МКД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AD67"/>
                </a:solidFill>
                <a:latin typeface="Calibri"/>
              </a:rPr>
              <a:t>УДОБСТВО ДЛЯ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161510"/>
                </a:solidFill>
                <a:latin typeface="Georgia"/>
              </a:rPr>
              <a:t>Сделано так, чтобы не потерять прогресс и не звать разработчика на помощь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5786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Автосохранение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953512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Ответы и файлы сохраняются в браузере автоматически — можно закрыть вкладку и вернуться позже.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675887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«Сообщить о проблеме» одной кнопкой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4050791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Обратная связь прямо с любой страницы сайта, без переписки по почте.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D1F1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77316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510"/>
                </a:solidFill>
                <a:latin typeface="Calibri"/>
              </a:rPr>
              <a:t>Работает на любом устройстве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5148072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03C33"/>
                </a:solidFill>
                <a:latin typeface="Calibri"/>
              </a:rPr>
              <a:t>Компьютер, планшет, телефон — интерфейс одинаково удобен везде.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656"/>
                </a:solidFill>
                <a:latin typeface="Calibri"/>
              </a:rPr>
              <a:t>CORE.ECO · МКД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656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FE9BC"/>
                </a:solidFill>
                <a:latin typeface="Calibri"/>
              </a:rPr>
              <a:t>БЛОГ И ЭКСПЕРТИЗА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10 статей об экологичном строительстве и «зелёных» облигациях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4D9BD"/>
                </a:solidFill>
                <a:latin typeface="Calibri"/>
              </a:rPr>
              <a:t>От перехода ГОСТ Р 70346-2022 → ГОСТ 35329-2026 и импортозамещения сертификации после ухода BREEAM/LEED — до вертикального озеленения фасадов и рынка зелёных облигаций.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593592"/>
            <a:ext cx="2843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D188"/>
                </a:solidFill>
                <a:latin typeface="Georgi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14800"/>
            <a:ext cx="28437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статей блога о «зелёных» МКД и зелёных облигациях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42900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3593592"/>
            <a:ext cx="2843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D188"/>
                </a:solidFill>
                <a:latin typeface="Georgia"/>
              </a:rPr>
              <a:t>540 млрд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114800"/>
            <a:ext cx="28437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рынок облигаций устойчивого развития в РФ (ЦБ РФ, май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429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83026"/>
          </a:solidFill>
          <a:ln w="12700">
            <a:solidFill>
              <a:srgbClr val="2A4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3593592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D188"/>
                </a:solidFill>
                <a:latin typeface="Georgia"/>
              </a:rPr>
              <a:t>1,5 трлн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4114800"/>
            <a:ext cx="31638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4D9BD"/>
                </a:solidFill>
                <a:latin typeface="Calibri"/>
              </a:rPr>
              <a:t>прогнозный объём рынка зелёных облигаций РФ к 2030 году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CORE.ECO · МКД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FE9BC"/>
                </a:solidFill>
                <a:latin typeface="Georgia"/>
              </a:rPr>
              <a:t>CORE</a:t>
            </a:r>
            <a:r>
              <a:rPr sz="2000" b="1">
                <a:solidFill>
                  <a:srgbClr val="0FAD67"/>
                </a:solidFill>
                <a:latin typeface="Georgia"/>
              </a:rPr>
              <a:t>.ECO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521208"/>
            <a:ext cx="658368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FE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00" b="1">
                <a:solidFill>
                  <a:srgbClr val="8FE9BC"/>
                </a:solidFill>
                <a:latin typeface="Calibri"/>
              </a:rPr>
              <a:t>МКД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От адреса дома до понятного рейтинга — за один визит на сайт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136392"/>
            <a:ext cx="128016" cy="128016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4D9BD"/>
                </a:solidFill>
                <a:latin typeface="Calibri"/>
              </a:rPr>
              <a:t>Экономит время и деньги на консультанте на предварительном этапе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39312"/>
            <a:ext cx="128016" cy="128016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4D9BD"/>
                </a:solidFill>
                <a:latin typeface="Calibri"/>
              </a:rPr>
              <a:t>Даёт официальную методику вместо догадок «на глаз»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42232"/>
            <a:ext cx="128016" cy="128016"/>
          </a:xfrm>
          <a:prstGeom prst="ellipse">
            <a:avLst/>
          </a:prstGeom>
          <a:solidFill>
            <a:srgbClr val="0FA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4D9BD"/>
                </a:solidFill>
                <a:latin typeface="Calibri"/>
              </a:rPr>
              <a:t>Открывает понятный путь к сертификации и «зелёному» финансированию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5074920"/>
            <a:ext cx="10424160" cy="0"/>
          </a:xfrm>
          <a:prstGeom prst="line">
            <a:avLst/>
          </a:prstGeom>
          <a:ln w="12700">
            <a:solidFill>
              <a:srgbClr val="2A4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+7 495 845-01-26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875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FD188"/>
                </a:solidFill>
                <a:latin typeface="Calibri"/>
              </a:rPr>
              <a:t>core.eco@core-xp.ru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716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4D9BD"/>
                </a:solidFill>
                <a:latin typeface="Calibri"/>
              </a:rPr>
              <a:t>Россия, Москва, БЦ ОКО, ММДЦ Москва-Сити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CORE.ECO · МКД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A39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